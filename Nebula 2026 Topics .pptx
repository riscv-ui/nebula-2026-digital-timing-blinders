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12188825" cy="6858000"/>
  <p:notesSz cx="6858000" cy="1218882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80" d="100"/>
          <a:sy n="80" d="100"/>
        </p:scale>
        <p:origin x="40"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121896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53712" y="4572"/>
            <a:ext cx="8778240" cy="502920"/>
          </a:xfrm>
          <a:prstGeom prst="rect">
            <a:avLst/>
          </a:prstGeom>
          <a:noFill/>
          <a:ln/>
        </p:spPr>
        <p:txBody>
          <a:bodyPr wrap="square" lIns="0" tIns="0" rIns="0" bIns="0" rtlCol="0" anchor="ctr"/>
          <a:lstStyle/>
          <a:p>
            <a:pPr marL="0" indent="0" algn="l">
              <a:buNone/>
            </a:pPr>
            <a:r>
              <a:rPr lang="en-US" sz="2600" b="1" dirty="0">
                <a:solidFill>
                  <a:schemeClr val="accent2">
                    <a:lumMod val="75000"/>
                  </a:schemeClr>
                </a:solidFill>
              </a:rPr>
              <a:t>Nebula Topics</a:t>
            </a:r>
          </a:p>
        </p:txBody>
      </p:sp>
      <p:pic>
        <p:nvPicPr>
          <p:cNvPr id="3" name="Image 0" descr="/home/user/build/astera_logo.png"/>
          <p:cNvPicPr>
            <a:picLocks noChangeAspect="1"/>
          </p:cNvPicPr>
          <p:nvPr/>
        </p:nvPicPr>
        <p:blipFill>
          <a:blip r:embed="rId3"/>
          <a:stretch>
            <a:fillRect/>
          </a:stretch>
        </p:blipFill>
        <p:spPr>
          <a:xfrm>
            <a:off x="10509057" y="256032"/>
            <a:ext cx="1268415" cy="384048"/>
          </a:xfrm>
          <a:prstGeom prst="rect">
            <a:avLst/>
          </a:prstGeom>
        </p:spPr>
      </p:pic>
      <p:sp>
        <p:nvSpPr>
          <p:cNvPr id="4" name="Text 1"/>
          <p:cNvSpPr/>
          <p:nvPr/>
        </p:nvSpPr>
        <p:spPr>
          <a:xfrm>
            <a:off x="0" y="6537960"/>
            <a:ext cx="12188952" cy="256032"/>
          </a:xfrm>
          <a:prstGeom prst="rect">
            <a:avLst/>
          </a:prstGeom>
          <a:noFill/>
          <a:ln/>
        </p:spPr>
        <p:txBody>
          <a:bodyPr wrap="square" rtlCol="0" anchor="ctr"/>
          <a:lstStyle/>
          <a:p>
            <a:pPr marL="0" indent="0" algn="ctr">
              <a:buNone/>
            </a:pPr>
            <a:r>
              <a:rPr lang="en-US" sz="900" dirty="0">
                <a:solidFill>
                  <a:srgbClr val="808080"/>
                </a:solidFill>
                <a:latin typeface="Calibri" pitchFamily="34" charset="0"/>
                <a:ea typeface="Calibri" pitchFamily="34" charset="-122"/>
                <a:cs typeface="Calibri" pitchFamily="34" charset="-120"/>
              </a:rPr>
              <a:t>Astera Labs Proprietary &amp; Confidential</a:t>
            </a:r>
            <a:endParaRPr lang="en-US" sz="900" dirty="0"/>
          </a:p>
        </p:txBody>
      </p:sp>
      <p:sp>
        <p:nvSpPr>
          <p:cNvPr id="5" name="Shape 2"/>
          <p:cNvSpPr/>
          <p:nvPr/>
        </p:nvSpPr>
        <p:spPr>
          <a:xfrm>
            <a:off x="342900" y="1243584"/>
            <a:ext cx="3666744" cy="5029200"/>
          </a:xfrm>
          <a:prstGeom prst="roundRect">
            <a:avLst>
              <a:gd name="adj" fmla="val 1995"/>
            </a:avLst>
          </a:prstGeom>
          <a:solidFill>
            <a:srgbClr val="DEEBF7"/>
          </a:solidFill>
          <a:ln w="12700">
            <a:solidFill>
              <a:srgbClr val="AFC7E8"/>
            </a:solidFill>
            <a:prstDash val="solid"/>
          </a:ln>
        </p:spPr>
        <p:txBody>
          <a:bodyPr/>
          <a:lstStyle/>
          <a:p>
            <a:endParaRPr lang="en-US"/>
          </a:p>
        </p:txBody>
      </p:sp>
      <p:sp>
        <p:nvSpPr>
          <p:cNvPr id="6" name="Shape 3"/>
          <p:cNvSpPr/>
          <p:nvPr/>
        </p:nvSpPr>
        <p:spPr>
          <a:xfrm>
            <a:off x="365760" y="914400"/>
            <a:ext cx="3666744" cy="713232"/>
          </a:xfrm>
          <a:prstGeom prst="chevron">
            <a:avLst/>
          </a:prstGeom>
          <a:solidFill>
            <a:srgbClr val="1F3864"/>
          </a:solidFill>
          <a:ln/>
        </p:spPr>
        <p:txBody>
          <a:bodyPr/>
          <a:lstStyle/>
          <a:p>
            <a:endParaRPr lang="en-US"/>
          </a:p>
        </p:txBody>
      </p:sp>
      <p:sp>
        <p:nvSpPr>
          <p:cNvPr id="7" name="Text 4"/>
          <p:cNvSpPr/>
          <p:nvPr/>
        </p:nvSpPr>
        <p:spPr>
          <a:xfrm>
            <a:off x="658368" y="914400"/>
            <a:ext cx="3099816" cy="713232"/>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Constraint Optimization through RTL Enhancement Using Generative AI</a:t>
            </a:r>
            <a:endParaRPr lang="en-US" sz="1100" dirty="0"/>
          </a:p>
        </p:txBody>
      </p:sp>
      <p:sp>
        <p:nvSpPr>
          <p:cNvPr id="8" name="Text 5"/>
          <p:cNvSpPr/>
          <p:nvPr/>
        </p:nvSpPr>
        <p:spPr>
          <a:xfrm>
            <a:off x="512064" y="1755648"/>
            <a:ext cx="3374136" cy="4517136"/>
          </a:xfrm>
          <a:prstGeom prst="rect">
            <a:avLst/>
          </a:prstGeom>
          <a:noFill/>
          <a:ln/>
        </p:spPr>
        <p:txBody>
          <a:bodyPr wrap="square" lIns="0" tIns="0" rIns="0" bIns="0" rtlCol="0" anchor="t">
            <a:normAutofit fontScale="85000" lnSpcReduction="20000"/>
          </a:bodyPr>
          <a:lstStyle/>
          <a:p>
            <a:pPr marL="0" indent="0">
              <a:spcAft>
                <a:spcPts val="200"/>
              </a:spcAft>
              <a:buNone/>
            </a:pPr>
            <a:r>
              <a:rPr lang="en-US" sz="1200" b="1" dirty="0">
                <a:solidFill>
                  <a:srgbClr val="1F3864"/>
                </a:solidFill>
                <a:latin typeface="Calibri" pitchFamily="34" charset="0"/>
                <a:ea typeface="Calibri" pitchFamily="34" charset="-122"/>
                <a:cs typeface="Calibri" pitchFamily="34" charset="-120"/>
              </a:rPr>
              <a:t>Problem Statement</a:t>
            </a:r>
            <a:endParaRPr lang="en-US" sz="1200" dirty="0"/>
          </a:p>
          <a:p>
            <a:pPr marL="0" indent="0" algn="just">
              <a:lnSpc>
                <a:spcPct val="98000"/>
              </a:lnSpc>
              <a:spcAft>
                <a:spcPts val="200"/>
              </a:spcAft>
              <a:buNone/>
            </a:pPr>
            <a:r>
              <a:rPr lang="en-US" sz="1100" dirty="0">
                <a:solidFill>
                  <a:srgbClr val="1A1A1A"/>
                </a:solidFill>
                <a:latin typeface="Calibri" pitchFamily="34" charset="0"/>
                <a:ea typeface="Calibri" pitchFamily="34" charset="-122"/>
                <a:cs typeface="Calibri" pitchFamily="34" charset="-120"/>
              </a:rPr>
              <a:t>Achieving timing closure is one of the biggest challenges in modern chip design. Engineers spend significant effort analyzing timing reports, identifying critical paths, and manually modifying RTL to meet performance targets — a time-consuming process requiring multiple design iterations. Opportunity to leverage Generative AI to analyze timing bottlenecks, recommend RTL optimizations, and accelerate timing closure while preserving functional correctness.</a:t>
            </a:r>
            <a:endParaRPr lang="en-US" sz="1300" dirty="0"/>
          </a:p>
          <a:p>
            <a:pPr marL="0" indent="0">
              <a:spcBef>
                <a:spcPts val="700"/>
              </a:spcBef>
              <a:spcAft>
                <a:spcPts val="200"/>
              </a:spcAft>
              <a:buNone/>
            </a:pPr>
            <a:r>
              <a:rPr lang="en-US" sz="1300" b="1" dirty="0">
                <a:solidFill>
                  <a:srgbClr val="1F3864"/>
                </a:solidFill>
                <a:latin typeface="Calibri" pitchFamily="34" charset="0"/>
                <a:ea typeface="Calibri" pitchFamily="34" charset="-122"/>
                <a:cs typeface="Calibri" pitchFamily="34" charset="-120"/>
              </a:rPr>
              <a:t>Objectives</a:t>
            </a:r>
            <a:endParaRPr lang="en-US" sz="1300" dirty="0"/>
          </a:p>
          <a:p>
            <a:pPr marL="0" indent="0" algn="just">
              <a:lnSpc>
                <a:spcPct val="98000"/>
              </a:lnSpc>
              <a:spcAft>
                <a:spcPts val="200"/>
              </a:spcAft>
              <a:buNone/>
            </a:pPr>
            <a:r>
              <a:rPr lang="en-US" sz="1100" dirty="0">
                <a:solidFill>
                  <a:srgbClr val="1A1A1A"/>
                </a:solidFill>
                <a:latin typeface="Calibri" pitchFamily="34" charset="0"/>
                <a:ea typeface="Calibri" pitchFamily="34" charset="-122"/>
                <a:cs typeface="Calibri" pitchFamily="34" charset="-120"/>
              </a:rPr>
              <a:t>Develop a GenAI-assisted framework to:</a:t>
            </a:r>
            <a:endParaRPr lang="en-US" sz="1300" dirty="0"/>
          </a:p>
          <a:p>
            <a:pPr marL="101600" indent="-101600">
              <a:lnSpc>
                <a:spcPct val="98000"/>
              </a:lnSpc>
              <a:spcAft>
                <a:spcPts val="100"/>
              </a:spcAft>
              <a:buSzPct val="100000"/>
              <a:buChar char="•"/>
            </a:pPr>
            <a:r>
              <a:rPr lang="en-US" sz="1100" dirty="0">
                <a:solidFill>
                  <a:srgbClr val="1A1A1A"/>
                </a:solidFill>
                <a:latin typeface="Calibri" pitchFamily="34" charset="0"/>
                <a:ea typeface="Calibri" pitchFamily="34" charset="-122"/>
                <a:cs typeface="Calibri" pitchFamily="34" charset="-120"/>
              </a:rPr>
              <a:t>Analyze RTL designs against specified timing constraints</a:t>
            </a:r>
            <a:endParaRPr lang="en-US" sz="1300" dirty="0"/>
          </a:p>
          <a:p>
            <a:pPr marL="101600" indent="-101600">
              <a:lnSpc>
                <a:spcPct val="98000"/>
              </a:lnSpc>
              <a:spcAft>
                <a:spcPts val="100"/>
              </a:spcAft>
              <a:buSzPct val="100000"/>
              <a:buChar char="•"/>
            </a:pPr>
            <a:r>
              <a:rPr lang="en-US" sz="1100" dirty="0">
                <a:solidFill>
                  <a:srgbClr val="1A1A1A"/>
                </a:solidFill>
                <a:latin typeface="Calibri" pitchFamily="34" charset="0"/>
                <a:ea typeface="Calibri" pitchFamily="34" charset="-122"/>
                <a:cs typeface="Calibri" pitchFamily="34" charset="-120"/>
              </a:rPr>
              <a:t>Identify critical paths and timing violations</a:t>
            </a:r>
            <a:endParaRPr lang="en-US" sz="1300" dirty="0"/>
          </a:p>
          <a:p>
            <a:pPr marL="101600" indent="-101600">
              <a:lnSpc>
                <a:spcPct val="98000"/>
              </a:lnSpc>
              <a:spcAft>
                <a:spcPts val="100"/>
              </a:spcAft>
              <a:buSzPct val="100000"/>
              <a:buChar char="•"/>
            </a:pPr>
            <a:r>
              <a:rPr lang="en-US" sz="1100" dirty="0">
                <a:solidFill>
                  <a:srgbClr val="1A1A1A"/>
                </a:solidFill>
                <a:latin typeface="Calibri" pitchFamily="34" charset="0"/>
                <a:ea typeface="Calibri" pitchFamily="34" charset="-122"/>
                <a:cs typeface="Calibri" pitchFamily="34" charset="-120"/>
              </a:rPr>
              <a:t>Use GenAI to recommend RTL optimizations (pipelining, logic restructuring, retiming, FSM optimization)</a:t>
            </a:r>
            <a:endParaRPr lang="en-US" sz="1300" dirty="0"/>
          </a:p>
          <a:p>
            <a:pPr marL="101600" indent="-101600">
              <a:lnSpc>
                <a:spcPct val="98000"/>
              </a:lnSpc>
              <a:spcAft>
                <a:spcPts val="100"/>
              </a:spcAft>
              <a:buSzPct val="100000"/>
              <a:buChar char="•"/>
            </a:pPr>
            <a:r>
              <a:rPr lang="en-US" sz="1100" dirty="0">
                <a:solidFill>
                  <a:srgbClr val="1A1A1A"/>
                </a:solidFill>
                <a:latin typeface="Calibri" pitchFamily="34" charset="0"/>
                <a:ea typeface="Calibri" pitchFamily="34" charset="-122"/>
                <a:cs typeface="Calibri" pitchFamily="34" charset="-120"/>
              </a:rPr>
              <a:t>Evaluate timing, area, and performance improvements</a:t>
            </a:r>
            <a:endParaRPr lang="en-US" sz="1300" dirty="0"/>
          </a:p>
          <a:p>
            <a:pPr marL="101600" indent="-101600">
              <a:lnSpc>
                <a:spcPct val="98000"/>
              </a:lnSpc>
              <a:spcAft>
                <a:spcPts val="100"/>
              </a:spcAft>
              <a:buSzPct val="100000"/>
              <a:buChar char="•"/>
            </a:pPr>
            <a:r>
              <a:rPr lang="en-US" sz="1100" dirty="0">
                <a:solidFill>
                  <a:srgbClr val="1A1A1A"/>
                </a:solidFill>
                <a:latin typeface="Calibri" pitchFamily="34" charset="0"/>
                <a:ea typeface="Calibri" pitchFamily="34" charset="-122"/>
                <a:cs typeface="Calibri" pitchFamily="34" charset="-120"/>
              </a:rPr>
              <a:t>Formally verify equivalence between original and optimized RTL</a:t>
            </a:r>
            <a:endParaRPr lang="en-US" sz="1300" dirty="0"/>
          </a:p>
          <a:p>
            <a:pPr marL="101600" indent="-101600">
              <a:lnSpc>
                <a:spcPct val="98000"/>
              </a:lnSpc>
              <a:spcAft>
                <a:spcPts val="100"/>
              </a:spcAft>
              <a:buSzPct val="100000"/>
              <a:buChar char="•"/>
            </a:pPr>
            <a:r>
              <a:rPr lang="en-US" sz="1100" dirty="0">
                <a:solidFill>
                  <a:srgbClr val="1A1A1A"/>
                </a:solidFill>
                <a:latin typeface="Calibri" pitchFamily="34" charset="0"/>
                <a:ea typeface="Calibri" pitchFamily="34" charset="-122"/>
                <a:cs typeface="Calibri" pitchFamily="34" charset="-120"/>
              </a:rPr>
              <a:t>RTL benchmark must include: 5 independent master async clock domains; ≥1 generated clock per master; Clock Domain Crossings (CDC); clock divider logic (multiple ratios); ~50K standard cells</a:t>
            </a:r>
            <a:endParaRPr lang="en-US" sz="1300" dirty="0"/>
          </a:p>
          <a:p>
            <a:pPr marL="0" indent="0">
              <a:spcBef>
                <a:spcPts val="700"/>
              </a:spcBef>
              <a:spcAft>
                <a:spcPts val="200"/>
              </a:spcAft>
              <a:buNone/>
            </a:pPr>
            <a:r>
              <a:rPr lang="en-US" sz="1300" b="1" dirty="0">
                <a:solidFill>
                  <a:srgbClr val="1F3864"/>
                </a:solidFill>
                <a:latin typeface="Calibri" pitchFamily="34" charset="0"/>
                <a:ea typeface="Calibri" pitchFamily="34" charset="-122"/>
                <a:cs typeface="Calibri" pitchFamily="34" charset="-120"/>
              </a:rPr>
              <a:t>Deliverables</a:t>
            </a:r>
            <a:endParaRPr lang="en-US" sz="1300" dirty="0"/>
          </a:p>
          <a:p>
            <a:pPr marL="101600" indent="-101600">
              <a:lnSpc>
                <a:spcPct val="98000"/>
              </a:lnSpc>
              <a:spcAft>
                <a:spcPts val="100"/>
              </a:spcAft>
              <a:buSzPct val="100000"/>
              <a:buChar char="•"/>
            </a:pPr>
            <a:r>
              <a:rPr lang="en-US" sz="1100" dirty="0">
                <a:solidFill>
                  <a:srgbClr val="1A1A1A"/>
                </a:solidFill>
                <a:latin typeface="Calibri" pitchFamily="34" charset="0"/>
                <a:ea typeface="Calibri" pitchFamily="34" charset="-122"/>
                <a:cs typeface="Calibri" pitchFamily="34" charset="-120"/>
              </a:rPr>
              <a:t>RTL timing analysis framework</a:t>
            </a:r>
            <a:endParaRPr lang="en-US" sz="1300" dirty="0"/>
          </a:p>
          <a:p>
            <a:pPr marL="101600" indent="-101600">
              <a:lnSpc>
                <a:spcPct val="98000"/>
              </a:lnSpc>
              <a:spcAft>
                <a:spcPts val="100"/>
              </a:spcAft>
              <a:buSzPct val="100000"/>
              <a:buChar char="•"/>
            </a:pPr>
            <a:r>
              <a:rPr lang="en-US" sz="1100" dirty="0">
                <a:solidFill>
                  <a:srgbClr val="1A1A1A"/>
                </a:solidFill>
                <a:latin typeface="Calibri" pitchFamily="34" charset="0"/>
                <a:ea typeface="Calibri" pitchFamily="34" charset="-122"/>
                <a:cs typeface="Calibri" pitchFamily="34" charset="-120"/>
              </a:rPr>
              <a:t>GenAI-based RTL optimization engine</a:t>
            </a:r>
            <a:endParaRPr lang="en-US" sz="1300" dirty="0"/>
          </a:p>
          <a:p>
            <a:pPr marL="101600" indent="-101600">
              <a:lnSpc>
                <a:spcPct val="98000"/>
              </a:lnSpc>
              <a:spcAft>
                <a:spcPts val="100"/>
              </a:spcAft>
              <a:buSzPct val="100000"/>
              <a:buChar char="•"/>
            </a:pPr>
            <a:r>
              <a:rPr lang="en-US" sz="1100" dirty="0">
                <a:solidFill>
                  <a:srgbClr val="1A1A1A"/>
                </a:solidFill>
                <a:latin typeface="Calibri" pitchFamily="34" charset="0"/>
                <a:ea typeface="Calibri" pitchFamily="34" charset="-122"/>
                <a:cs typeface="Calibri" pitchFamily="34" charset="-120"/>
              </a:rPr>
              <a:t>Critical path and timing violation analysis</a:t>
            </a:r>
            <a:endParaRPr lang="en-US" sz="1300" dirty="0"/>
          </a:p>
          <a:p>
            <a:pPr marL="101600" indent="-101600">
              <a:lnSpc>
                <a:spcPct val="98000"/>
              </a:lnSpc>
              <a:spcAft>
                <a:spcPts val="100"/>
              </a:spcAft>
              <a:buSzPct val="100000"/>
              <a:buChar char="•"/>
            </a:pPr>
            <a:r>
              <a:rPr lang="en-US" sz="1100" dirty="0">
                <a:solidFill>
                  <a:srgbClr val="1A1A1A"/>
                </a:solidFill>
                <a:latin typeface="Calibri" pitchFamily="34" charset="0"/>
                <a:ea typeface="Calibri" pitchFamily="34" charset="-122"/>
                <a:cs typeface="Calibri" pitchFamily="34" charset="-120"/>
              </a:rPr>
              <a:t>Optimized RTL implementation</a:t>
            </a:r>
            <a:endParaRPr lang="en-US" sz="1300" dirty="0"/>
          </a:p>
          <a:p>
            <a:pPr marL="101600" indent="-101600">
              <a:lnSpc>
                <a:spcPct val="98000"/>
              </a:lnSpc>
              <a:spcAft>
                <a:spcPts val="100"/>
              </a:spcAft>
              <a:buSzPct val="100000"/>
              <a:buChar char="•"/>
            </a:pPr>
            <a:r>
              <a:rPr lang="en-US" sz="1100" dirty="0">
                <a:solidFill>
                  <a:srgbClr val="1A1A1A"/>
                </a:solidFill>
                <a:latin typeface="Calibri" pitchFamily="34" charset="0"/>
                <a:ea typeface="Calibri" pitchFamily="34" charset="-122"/>
                <a:cs typeface="Calibri" pitchFamily="34" charset="-120"/>
              </a:rPr>
              <a:t>Timing, frequency and PPA comparison</a:t>
            </a:r>
            <a:endParaRPr lang="en-US" sz="1300" dirty="0"/>
          </a:p>
          <a:p>
            <a:pPr marL="101600" indent="-101600">
              <a:lnSpc>
                <a:spcPct val="98000"/>
              </a:lnSpc>
              <a:spcAft>
                <a:spcPts val="100"/>
              </a:spcAft>
              <a:buSzPct val="100000"/>
              <a:buChar char="•"/>
            </a:pPr>
            <a:r>
              <a:rPr lang="en-US" sz="1100" dirty="0">
                <a:solidFill>
                  <a:srgbClr val="1A1A1A"/>
                </a:solidFill>
                <a:latin typeface="Calibri" pitchFamily="34" charset="0"/>
                <a:ea typeface="Calibri" pitchFamily="34" charset="-122"/>
                <a:cs typeface="Calibri" pitchFamily="34" charset="-120"/>
              </a:rPr>
              <a:t>Formal equivalence verification report</a:t>
            </a:r>
            <a:endParaRPr lang="en-US" sz="1300" dirty="0"/>
          </a:p>
          <a:p>
            <a:pPr marL="101600" indent="-101600">
              <a:lnSpc>
                <a:spcPct val="98000"/>
              </a:lnSpc>
              <a:spcAft>
                <a:spcPts val="100"/>
              </a:spcAft>
              <a:buSzPct val="100000"/>
              <a:buChar char="•"/>
            </a:pPr>
            <a:r>
              <a:rPr lang="en-US" sz="1100" dirty="0">
                <a:solidFill>
                  <a:srgbClr val="1A1A1A"/>
                </a:solidFill>
                <a:latin typeface="Calibri" pitchFamily="34" charset="0"/>
                <a:ea typeface="Calibri" pitchFamily="34" charset="-122"/>
                <a:cs typeface="Calibri" pitchFamily="34" charset="-120"/>
              </a:rPr>
              <a:t>Interactive demo showcasing RTL optimization workflow</a:t>
            </a:r>
            <a:endParaRPr lang="en-US" sz="1300" dirty="0"/>
          </a:p>
          <a:p>
            <a:pPr marL="0" indent="0">
              <a:spcBef>
                <a:spcPts val="700"/>
              </a:spcBef>
              <a:spcAft>
                <a:spcPts val="200"/>
              </a:spcAft>
              <a:buNone/>
            </a:pPr>
            <a:r>
              <a:rPr lang="en-US" sz="1300" b="1" dirty="0">
                <a:solidFill>
                  <a:srgbClr val="1F3864"/>
                </a:solidFill>
                <a:latin typeface="Calibri" pitchFamily="34" charset="0"/>
                <a:ea typeface="Calibri" pitchFamily="34" charset="-122"/>
                <a:cs typeface="Calibri" pitchFamily="34" charset="-120"/>
              </a:rPr>
              <a:t>Tools &amp; Resources</a:t>
            </a:r>
            <a:endParaRPr lang="en-US" sz="1300" dirty="0"/>
          </a:p>
          <a:p>
            <a:pPr marL="101600" indent="-101600">
              <a:lnSpc>
                <a:spcPct val="98000"/>
              </a:lnSpc>
              <a:spcAft>
                <a:spcPts val="100"/>
              </a:spcAft>
              <a:buSzPct val="100000"/>
              <a:buChar char="•"/>
            </a:pPr>
            <a:r>
              <a:rPr lang="en-US" sz="1100" dirty="0">
                <a:solidFill>
                  <a:srgbClr val="1A1A1A"/>
                </a:solidFill>
                <a:latin typeface="Calibri" pitchFamily="34" charset="0"/>
                <a:ea typeface="Calibri" pitchFamily="34" charset="-122"/>
                <a:cs typeface="Calibri" pitchFamily="34" charset="-120"/>
              </a:rPr>
              <a:t>Verilog/SystemVerilog</a:t>
            </a:r>
            <a:endParaRPr lang="en-US" sz="1300" dirty="0"/>
          </a:p>
          <a:p>
            <a:pPr marL="101600" indent="-101600">
              <a:lnSpc>
                <a:spcPct val="98000"/>
              </a:lnSpc>
              <a:spcAft>
                <a:spcPts val="100"/>
              </a:spcAft>
              <a:buSzPct val="100000"/>
              <a:buChar char="•"/>
            </a:pPr>
            <a:r>
              <a:rPr lang="en-US" sz="1100" dirty="0">
                <a:solidFill>
                  <a:srgbClr val="1A1A1A"/>
                </a:solidFill>
                <a:latin typeface="Calibri" pitchFamily="34" charset="0"/>
                <a:ea typeface="Calibri" pitchFamily="34" charset="-122"/>
                <a:cs typeface="Calibri" pitchFamily="34" charset="-120"/>
              </a:rPr>
              <a:t>OpenSTA, Yosys, OpenROAD</a:t>
            </a:r>
            <a:endParaRPr lang="en-US" sz="1300" dirty="0"/>
          </a:p>
          <a:p>
            <a:pPr marL="101600" indent="-101600">
              <a:lnSpc>
                <a:spcPct val="98000"/>
              </a:lnSpc>
              <a:spcAft>
                <a:spcPts val="100"/>
              </a:spcAft>
              <a:buSzPct val="100000"/>
              <a:buChar char="•"/>
            </a:pPr>
            <a:r>
              <a:rPr lang="en-US" sz="1100" dirty="0">
                <a:solidFill>
                  <a:srgbClr val="1A1A1A"/>
                </a:solidFill>
                <a:latin typeface="Calibri" pitchFamily="34" charset="0"/>
                <a:ea typeface="Calibri" pitchFamily="34" charset="-122"/>
                <a:cs typeface="Calibri" pitchFamily="34" charset="-120"/>
              </a:rPr>
              <a:t>SymbiYosys / EQY</a:t>
            </a:r>
            <a:endParaRPr lang="en-US" sz="1300" dirty="0"/>
          </a:p>
          <a:p>
            <a:pPr marL="101600" indent="-101600">
              <a:lnSpc>
                <a:spcPct val="98000"/>
              </a:lnSpc>
              <a:spcAft>
                <a:spcPts val="100"/>
              </a:spcAft>
              <a:buSzPct val="100000"/>
              <a:buChar char="•"/>
            </a:pPr>
            <a:r>
              <a:rPr lang="en-US" sz="1100" dirty="0">
                <a:solidFill>
                  <a:srgbClr val="1A1A1A"/>
                </a:solidFill>
                <a:latin typeface="Calibri" pitchFamily="34" charset="0"/>
                <a:ea typeface="Calibri" pitchFamily="34" charset="-122"/>
                <a:cs typeface="Calibri" pitchFamily="34" charset="-120"/>
              </a:rPr>
              <a:t>Python</a:t>
            </a:r>
            <a:endParaRPr lang="en-US" sz="1300" dirty="0"/>
          </a:p>
          <a:p>
            <a:pPr marL="101600" indent="-101600">
              <a:lnSpc>
                <a:spcPct val="98000"/>
              </a:lnSpc>
              <a:spcAft>
                <a:spcPts val="100"/>
              </a:spcAft>
              <a:buSzPct val="100000"/>
              <a:buChar char="•"/>
            </a:pPr>
            <a:r>
              <a:rPr lang="en-US" sz="1100" dirty="0">
                <a:solidFill>
                  <a:srgbClr val="1A1A1A"/>
                </a:solidFill>
                <a:latin typeface="Calibri" pitchFamily="34" charset="0"/>
                <a:ea typeface="Calibri" pitchFamily="34" charset="-122"/>
                <a:cs typeface="Calibri" pitchFamily="34" charset="-120"/>
              </a:rPr>
              <a:t>LLM/GenAI frameworks</a:t>
            </a:r>
            <a:endParaRPr lang="en-US" sz="1300" dirty="0"/>
          </a:p>
        </p:txBody>
      </p:sp>
      <p:sp>
        <p:nvSpPr>
          <p:cNvPr id="9" name="Shape 6"/>
          <p:cNvSpPr/>
          <p:nvPr/>
        </p:nvSpPr>
        <p:spPr>
          <a:xfrm>
            <a:off x="4261104" y="1371600"/>
            <a:ext cx="3666744" cy="5029200"/>
          </a:xfrm>
          <a:prstGeom prst="roundRect">
            <a:avLst>
              <a:gd name="adj" fmla="val 1995"/>
            </a:avLst>
          </a:prstGeom>
          <a:solidFill>
            <a:srgbClr val="DEEBF7"/>
          </a:solidFill>
          <a:ln w="12700">
            <a:solidFill>
              <a:srgbClr val="AFC7E8"/>
            </a:solidFill>
            <a:prstDash val="solid"/>
          </a:ln>
        </p:spPr>
        <p:txBody>
          <a:bodyPr/>
          <a:lstStyle/>
          <a:p>
            <a:endParaRPr lang="en-US"/>
          </a:p>
        </p:txBody>
      </p:sp>
      <p:sp>
        <p:nvSpPr>
          <p:cNvPr id="10" name="Shape 7"/>
          <p:cNvSpPr/>
          <p:nvPr/>
        </p:nvSpPr>
        <p:spPr>
          <a:xfrm>
            <a:off x="4261104" y="914400"/>
            <a:ext cx="3666744" cy="713232"/>
          </a:xfrm>
          <a:prstGeom prst="chevron">
            <a:avLst/>
          </a:prstGeom>
          <a:solidFill>
            <a:srgbClr val="1F3864"/>
          </a:solidFill>
          <a:ln/>
        </p:spPr>
        <p:txBody>
          <a:bodyPr/>
          <a:lstStyle/>
          <a:p>
            <a:endParaRPr lang="en-US"/>
          </a:p>
        </p:txBody>
      </p:sp>
      <p:sp>
        <p:nvSpPr>
          <p:cNvPr id="11" name="Text 8"/>
          <p:cNvSpPr/>
          <p:nvPr/>
        </p:nvSpPr>
        <p:spPr>
          <a:xfrm>
            <a:off x="4553712" y="914400"/>
            <a:ext cx="3099816" cy="713232"/>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AI/ML for Analog Circuit Design</a:t>
            </a:r>
            <a:endParaRPr lang="en-US" sz="1100" dirty="0"/>
          </a:p>
        </p:txBody>
      </p:sp>
      <p:sp>
        <p:nvSpPr>
          <p:cNvPr id="12" name="Text 9"/>
          <p:cNvSpPr/>
          <p:nvPr/>
        </p:nvSpPr>
        <p:spPr>
          <a:xfrm>
            <a:off x="4407408" y="1755648"/>
            <a:ext cx="3374136" cy="4517136"/>
          </a:xfrm>
          <a:prstGeom prst="rect">
            <a:avLst/>
          </a:prstGeom>
          <a:noFill/>
          <a:ln/>
        </p:spPr>
        <p:txBody>
          <a:bodyPr wrap="square" lIns="0" tIns="0" rIns="0" bIns="0" rtlCol="0" anchor="t">
            <a:normAutofit lnSpcReduction="10000"/>
          </a:bodyPr>
          <a:lstStyle/>
          <a:p>
            <a:pPr marL="0" indent="0">
              <a:spcAft>
                <a:spcPts val="200"/>
              </a:spcAft>
              <a:buNone/>
            </a:pPr>
            <a:r>
              <a:rPr lang="en-US" sz="1050" b="1" dirty="0">
                <a:solidFill>
                  <a:srgbClr val="1F3864"/>
                </a:solidFill>
                <a:latin typeface="Calibri" pitchFamily="34" charset="0"/>
                <a:ea typeface="Calibri" pitchFamily="34" charset="-122"/>
                <a:cs typeface="Calibri" pitchFamily="34" charset="-120"/>
              </a:rPr>
              <a:t>Problem Statement</a:t>
            </a:r>
            <a:endParaRPr lang="en-US" sz="1050" dirty="0"/>
          </a:p>
          <a:p>
            <a:pPr marL="0" indent="0" algn="just">
              <a:lnSpc>
                <a:spcPct val="98000"/>
              </a:lnSpc>
              <a:spcAft>
                <a:spcPts val="200"/>
              </a:spcAft>
              <a:buNone/>
            </a:pPr>
            <a:r>
              <a:rPr lang="en-US" sz="900" dirty="0">
                <a:solidFill>
                  <a:srgbClr val="1A1A1A"/>
                </a:solidFill>
                <a:latin typeface="Calibri" pitchFamily="34" charset="0"/>
                <a:ea typeface="Calibri" pitchFamily="34" charset="-122"/>
                <a:cs typeface="Calibri" pitchFamily="34" charset="-120"/>
              </a:rPr>
              <a:t>Demonstrate a fully automated framework for schematic design of analog circuits using Reinforcement Learning. Given circuit specifications, build an automated design flow that sizes devices using fewer search spaces (lowest design time) to reach near-optimal solutions. Use case: Equalizer circuit design (PCIe PHY). Should take significantly lower time than sweeping all MOS, R, C, L parameter space, with zero human intervention.</a:t>
            </a:r>
            <a:endParaRPr lang="en-US" sz="1050" dirty="0"/>
          </a:p>
          <a:p>
            <a:pPr marL="0" indent="0" algn="just">
              <a:lnSpc>
                <a:spcPct val="98000"/>
              </a:lnSpc>
              <a:spcAft>
                <a:spcPts val="200"/>
              </a:spcAft>
              <a:buNone/>
            </a:pPr>
            <a:r>
              <a:rPr lang="en-US" sz="900" dirty="0">
                <a:solidFill>
                  <a:srgbClr val="1A1A1A"/>
                </a:solidFill>
                <a:latin typeface="Calibri" pitchFamily="34" charset="0"/>
                <a:ea typeface="Calibri" pitchFamily="34" charset="-122"/>
                <a:cs typeface="Calibri" pitchFamily="34" charset="-120"/>
              </a:rPr>
              <a:t>Specifications: Nyquist Freq (PCIe Gen 2, 5.0 Gbps): 2.5 GHz; HF peaking boost 3–12 dB (tunable 1.25–2.5 GHz); 1-Stage CTLE w/ source degeneration (variable Rs, Cs) + 1-Tap DFE; NRZ signaling; Linearity HD3 &lt; -30 dB (100 MHz diff input); Input-referred noise &lt; 1.5 mVrms (10 MHz–5 GHz); Power &lt; 15 mW; Area &lt; 0.05 mm² (130nm PDK); Eye opening &gt; 0.4 UI (H) &amp; &gt; 100 mV (V); Meet across PVT (TT,SS,FF,SF,FS; VDD±5%; 0–125°C).</a:t>
            </a:r>
            <a:endParaRPr lang="en-US" sz="1050" dirty="0"/>
          </a:p>
          <a:p>
            <a:pPr marL="0" indent="0">
              <a:spcBef>
                <a:spcPts val="700"/>
              </a:spcBef>
              <a:spcAft>
                <a:spcPts val="200"/>
              </a:spcAft>
              <a:buNone/>
            </a:pPr>
            <a:r>
              <a:rPr lang="en-US" sz="1050" b="1" dirty="0">
                <a:solidFill>
                  <a:srgbClr val="1F3864"/>
                </a:solidFill>
                <a:latin typeface="Calibri" pitchFamily="34" charset="0"/>
                <a:ea typeface="Calibri" pitchFamily="34" charset="-122"/>
                <a:cs typeface="Calibri" pitchFamily="34" charset="-120"/>
              </a:rPr>
              <a:t>Objective</a:t>
            </a:r>
            <a:endParaRPr lang="en-US" sz="1050" dirty="0"/>
          </a:p>
          <a:p>
            <a:pPr marL="101600" indent="-101600">
              <a:lnSpc>
                <a:spcPct val="98000"/>
              </a:lnSpc>
              <a:spcAft>
                <a:spcPts val="100"/>
              </a:spcAft>
              <a:buSzPct val="100000"/>
              <a:buChar char="•"/>
            </a:pPr>
            <a:r>
              <a:rPr lang="en-US" sz="900" dirty="0">
                <a:solidFill>
                  <a:srgbClr val="1A1A1A"/>
                </a:solidFill>
                <a:latin typeface="Calibri" pitchFamily="34" charset="0"/>
                <a:ea typeface="Calibri" pitchFamily="34" charset="-122"/>
                <a:cs typeface="Calibri" pitchFamily="34" charset="-120"/>
              </a:rPr>
              <a:t>Develop a RL based automation framework to automatically design an equalizer for the given specifications, with minimal to zero human intervention</a:t>
            </a:r>
          </a:p>
          <a:p>
            <a:pPr>
              <a:lnSpc>
                <a:spcPct val="98000"/>
              </a:lnSpc>
              <a:spcAft>
                <a:spcPts val="100"/>
              </a:spcAft>
              <a:buSzPct val="100000"/>
            </a:pPr>
            <a:endParaRPr lang="en-US" sz="900" dirty="0">
              <a:solidFill>
                <a:srgbClr val="1A1A1A"/>
              </a:solidFill>
              <a:latin typeface="Calibri" pitchFamily="34" charset="0"/>
              <a:ea typeface="Calibri" pitchFamily="34" charset="-122"/>
              <a:cs typeface="Calibri" pitchFamily="34" charset="-120"/>
            </a:endParaRPr>
          </a:p>
          <a:p>
            <a:pPr>
              <a:lnSpc>
                <a:spcPct val="98000"/>
              </a:lnSpc>
              <a:spcBef>
                <a:spcPts val="700"/>
              </a:spcBef>
              <a:spcAft>
                <a:spcPts val="200"/>
              </a:spcAft>
              <a:buSzPct val="100000"/>
            </a:pPr>
            <a:r>
              <a:rPr lang="en-US" sz="1050" b="1" dirty="0">
                <a:solidFill>
                  <a:srgbClr val="1F3864"/>
                </a:solidFill>
                <a:latin typeface="Calibri" pitchFamily="34" charset="0"/>
                <a:ea typeface="Calibri" pitchFamily="34" charset="-122"/>
                <a:cs typeface="Calibri" pitchFamily="34" charset="-120"/>
              </a:rPr>
              <a:t>Deliverables</a:t>
            </a:r>
          </a:p>
          <a:p>
            <a:pPr marL="101600" indent="-101600">
              <a:lnSpc>
                <a:spcPct val="98000"/>
              </a:lnSpc>
              <a:spcAft>
                <a:spcPts val="100"/>
              </a:spcAft>
              <a:buSzPct val="100000"/>
              <a:buChar char="•"/>
            </a:pPr>
            <a:r>
              <a:rPr lang="en-US" sz="900" dirty="0">
                <a:solidFill>
                  <a:srgbClr val="1A1A1A"/>
                </a:solidFill>
                <a:latin typeface="Calibri" pitchFamily="34" charset="0"/>
                <a:ea typeface="Calibri" pitchFamily="34" charset="-122"/>
                <a:cs typeface="Calibri" pitchFamily="34" charset="-120"/>
              </a:rPr>
              <a:t>A Reinforcement Learning based Python framework that takes target specs as input, seamlessly integrates with a spice simulator — outputs the final schematic and resulting specs</a:t>
            </a:r>
            <a:endParaRPr lang="en-US" sz="1050" dirty="0"/>
          </a:p>
          <a:p>
            <a:pPr marL="101600" indent="-101600">
              <a:lnSpc>
                <a:spcPct val="98000"/>
              </a:lnSpc>
              <a:spcAft>
                <a:spcPts val="100"/>
              </a:spcAft>
              <a:buSzPct val="100000"/>
              <a:buChar char="•"/>
            </a:pPr>
            <a:r>
              <a:rPr lang="en-US" sz="900" dirty="0">
                <a:solidFill>
                  <a:srgbClr val="1A1A1A"/>
                </a:solidFill>
                <a:latin typeface="Calibri" pitchFamily="34" charset="0"/>
                <a:ea typeface="Calibri" pitchFamily="34" charset="-122"/>
                <a:cs typeface="Calibri" pitchFamily="34" charset="-120"/>
              </a:rPr>
              <a:t>Bonus: LLM-based human interaction with wrapper to fine-tune</a:t>
            </a:r>
            <a:endParaRPr lang="en-US" sz="1050" dirty="0"/>
          </a:p>
          <a:p>
            <a:pPr marL="0" indent="0">
              <a:spcBef>
                <a:spcPts val="700"/>
              </a:spcBef>
              <a:spcAft>
                <a:spcPts val="200"/>
              </a:spcAft>
              <a:buNone/>
            </a:pPr>
            <a:r>
              <a:rPr lang="en-US" sz="1050" b="1" dirty="0">
                <a:solidFill>
                  <a:srgbClr val="1F3864"/>
                </a:solidFill>
                <a:latin typeface="Calibri" pitchFamily="34" charset="0"/>
                <a:ea typeface="Calibri" pitchFamily="34" charset="-122"/>
                <a:cs typeface="Calibri" pitchFamily="34" charset="-120"/>
              </a:rPr>
              <a:t>Tools &amp; Resources</a:t>
            </a:r>
            <a:endParaRPr lang="en-US" sz="1050" dirty="0"/>
          </a:p>
          <a:p>
            <a:pPr marL="101600" indent="-101600">
              <a:lnSpc>
                <a:spcPct val="98000"/>
              </a:lnSpc>
              <a:spcAft>
                <a:spcPts val="100"/>
              </a:spcAft>
              <a:buSzPct val="100000"/>
              <a:buChar char="•"/>
            </a:pPr>
            <a:r>
              <a:rPr lang="en-US" sz="900" dirty="0">
                <a:solidFill>
                  <a:srgbClr val="1A1A1A"/>
                </a:solidFill>
                <a:latin typeface="Calibri" pitchFamily="34" charset="0"/>
                <a:ea typeface="Calibri" pitchFamily="34" charset="-122"/>
                <a:cs typeface="Calibri" pitchFamily="34" charset="-120"/>
              </a:rPr>
              <a:t>Python, Anaconda</a:t>
            </a:r>
            <a:endParaRPr lang="en-US" sz="1050" dirty="0"/>
          </a:p>
          <a:p>
            <a:pPr marL="101600" indent="-101600">
              <a:lnSpc>
                <a:spcPct val="98000"/>
              </a:lnSpc>
              <a:spcAft>
                <a:spcPts val="100"/>
              </a:spcAft>
              <a:buSzPct val="100000"/>
              <a:buChar char="•"/>
            </a:pPr>
            <a:r>
              <a:rPr lang="en-US" sz="900" dirty="0">
                <a:solidFill>
                  <a:srgbClr val="1A1A1A"/>
                </a:solidFill>
                <a:latin typeface="Calibri" pitchFamily="34" charset="0"/>
                <a:ea typeface="Calibri" pitchFamily="34" charset="-122"/>
                <a:cs typeface="Calibri" pitchFamily="34" charset="-120"/>
              </a:rPr>
              <a:t>LLM, Gym Utils</a:t>
            </a:r>
            <a:endParaRPr lang="en-US" sz="1050" dirty="0"/>
          </a:p>
          <a:p>
            <a:pPr marL="101600" indent="-101600">
              <a:lnSpc>
                <a:spcPct val="98000"/>
              </a:lnSpc>
              <a:spcAft>
                <a:spcPts val="100"/>
              </a:spcAft>
              <a:buSzPct val="100000"/>
              <a:buChar char="•"/>
            </a:pPr>
            <a:r>
              <a:rPr lang="en-US" sz="900" dirty="0">
                <a:solidFill>
                  <a:srgbClr val="1A1A1A"/>
                </a:solidFill>
                <a:latin typeface="Calibri" pitchFamily="34" charset="0"/>
                <a:ea typeface="Calibri" pitchFamily="34" charset="-122"/>
                <a:cs typeface="Calibri" pitchFamily="34" charset="-120"/>
              </a:rPr>
              <a:t>Spice Simulators (NGSpice or PySpice)</a:t>
            </a:r>
            <a:endParaRPr lang="en-US" sz="1050" dirty="0"/>
          </a:p>
          <a:p>
            <a:pPr marL="101600" indent="-101600">
              <a:lnSpc>
                <a:spcPct val="98000"/>
              </a:lnSpc>
              <a:spcAft>
                <a:spcPts val="100"/>
              </a:spcAft>
              <a:buSzPct val="100000"/>
              <a:buChar char="•"/>
            </a:pPr>
            <a:r>
              <a:rPr lang="en-US" sz="900" dirty="0">
                <a:solidFill>
                  <a:srgbClr val="1A1A1A"/>
                </a:solidFill>
                <a:latin typeface="Calibri" pitchFamily="34" charset="0"/>
                <a:ea typeface="Calibri" pitchFamily="34" charset="-122"/>
                <a:cs typeface="Calibri" pitchFamily="34" charset="-120"/>
              </a:rPr>
              <a:t>Open-Source PDK (IHP 130nm BiCMOS or Skywater SKY 130nm)</a:t>
            </a:r>
            <a:endParaRPr lang="en-US" sz="1050" dirty="0"/>
          </a:p>
        </p:txBody>
      </p:sp>
      <p:sp>
        <p:nvSpPr>
          <p:cNvPr id="13" name="Shape 10"/>
          <p:cNvSpPr/>
          <p:nvPr/>
        </p:nvSpPr>
        <p:spPr>
          <a:xfrm>
            <a:off x="8156448" y="1371600"/>
            <a:ext cx="3666744" cy="5029200"/>
          </a:xfrm>
          <a:prstGeom prst="roundRect">
            <a:avLst>
              <a:gd name="adj" fmla="val 1995"/>
            </a:avLst>
          </a:prstGeom>
          <a:solidFill>
            <a:srgbClr val="DEEBF7"/>
          </a:solidFill>
          <a:ln w="12700">
            <a:solidFill>
              <a:srgbClr val="AFC7E8"/>
            </a:solidFill>
            <a:prstDash val="solid"/>
          </a:ln>
        </p:spPr>
        <p:txBody>
          <a:bodyPr/>
          <a:lstStyle/>
          <a:p>
            <a:endParaRPr lang="en-US"/>
          </a:p>
        </p:txBody>
      </p:sp>
      <p:sp>
        <p:nvSpPr>
          <p:cNvPr id="14" name="Shape 11"/>
          <p:cNvSpPr/>
          <p:nvPr/>
        </p:nvSpPr>
        <p:spPr>
          <a:xfrm>
            <a:off x="8156448" y="914400"/>
            <a:ext cx="3666744" cy="713232"/>
          </a:xfrm>
          <a:prstGeom prst="chevron">
            <a:avLst/>
          </a:prstGeom>
          <a:solidFill>
            <a:srgbClr val="1F3864"/>
          </a:solidFill>
          <a:ln/>
        </p:spPr>
        <p:txBody>
          <a:bodyPr/>
          <a:lstStyle/>
          <a:p>
            <a:endParaRPr lang="en-US"/>
          </a:p>
        </p:txBody>
      </p:sp>
      <p:sp>
        <p:nvSpPr>
          <p:cNvPr id="15" name="Text 12"/>
          <p:cNvSpPr/>
          <p:nvPr/>
        </p:nvSpPr>
        <p:spPr>
          <a:xfrm>
            <a:off x="8449056" y="914400"/>
            <a:ext cx="3099816" cy="713232"/>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CXL-Based Memory Optimization for MoE Models</a:t>
            </a:r>
            <a:endParaRPr lang="en-US" sz="1100" dirty="0"/>
          </a:p>
        </p:txBody>
      </p:sp>
      <p:sp>
        <p:nvSpPr>
          <p:cNvPr id="16" name="Text 13"/>
          <p:cNvSpPr/>
          <p:nvPr/>
        </p:nvSpPr>
        <p:spPr>
          <a:xfrm>
            <a:off x="8302752" y="1755648"/>
            <a:ext cx="3374136" cy="4517136"/>
          </a:xfrm>
          <a:prstGeom prst="rect">
            <a:avLst/>
          </a:prstGeom>
          <a:noFill/>
          <a:ln/>
        </p:spPr>
        <p:txBody>
          <a:bodyPr wrap="square" lIns="0" tIns="0" rIns="0" bIns="0" rtlCol="0" anchor="t">
            <a:normAutofit/>
          </a:bodyPr>
          <a:lstStyle/>
          <a:p>
            <a:pPr marL="0" indent="0">
              <a:spcAft>
                <a:spcPts val="200"/>
              </a:spcAft>
              <a:buNone/>
            </a:pPr>
            <a:r>
              <a:rPr lang="en-US" sz="1050" b="1" dirty="0">
                <a:solidFill>
                  <a:srgbClr val="1F3864"/>
                </a:solidFill>
                <a:latin typeface="Calibri" pitchFamily="34" charset="0"/>
                <a:ea typeface="Calibri" pitchFamily="34" charset="-122"/>
                <a:cs typeface="Calibri" pitchFamily="34" charset="-120"/>
              </a:rPr>
              <a:t>Problem Statement</a:t>
            </a:r>
            <a:endParaRPr lang="en-US" sz="1050" dirty="0"/>
          </a:p>
          <a:p>
            <a:pPr marL="0" indent="0" algn="just">
              <a:lnSpc>
                <a:spcPct val="98000"/>
              </a:lnSpc>
              <a:spcAft>
                <a:spcPts val="200"/>
              </a:spcAft>
              <a:buNone/>
            </a:pPr>
            <a:r>
              <a:rPr lang="en-US" sz="900" dirty="0">
                <a:solidFill>
                  <a:srgbClr val="1A1A1A"/>
                </a:solidFill>
                <a:latin typeface="Calibri" pitchFamily="34" charset="0"/>
                <a:ea typeface="Calibri" pitchFamily="34" charset="-122"/>
                <a:cs typeface="Calibri" pitchFamily="34" charset="-120"/>
              </a:rPr>
              <a:t>As AI models scale from dense Transformer architectures to MoE models, GPU memory capacity is becoming a key bottleneck. While HBM provides high bandwidth, its limited capacity restricts model scalability. CXL enables memory expansion, pooling, and disaggregation, offering a potential solution for next-generation AI systems.</a:t>
            </a:r>
            <a:endParaRPr lang="en-US" sz="1050" dirty="0"/>
          </a:p>
          <a:p>
            <a:pPr marL="0" indent="0">
              <a:spcBef>
                <a:spcPts val="700"/>
              </a:spcBef>
              <a:spcAft>
                <a:spcPts val="200"/>
              </a:spcAft>
              <a:buNone/>
            </a:pPr>
            <a:r>
              <a:rPr lang="en-US" sz="1050" b="1" dirty="0">
                <a:solidFill>
                  <a:srgbClr val="1F3864"/>
                </a:solidFill>
                <a:latin typeface="Calibri" pitchFamily="34" charset="0"/>
                <a:ea typeface="Calibri" pitchFamily="34" charset="-122"/>
                <a:cs typeface="Calibri" pitchFamily="34" charset="-120"/>
              </a:rPr>
              <a:t>Objectives</a:t>
            </a:r>
            <a:endParaRPr lang="en-US" sz="1050" dirty="0"/>
          </a:p>
          <a:p>
            <a:pPr marL="101600" indent="-101600">
              <a:lnSpc>
                <a:spcPct val="98000"/>
              </a:lnSpc>
              <a:spcAft>
                <a:spcPts val="100"/>
              </a:spcAft>
              <a:buSzPct val="100000"/>
              <a:buChar char="•"/>
            </a:pPr>
            <a:r>
              <a:rPr lang="en-US" sz="900" dirty="0">
                <a:solidFill>
                  <a:srgbClr val="1A1A1A"/>
                </a:solidFill>
                <a:latin typeface="Calibri" pitchFamily="34" charset="0"/>
                <a:ea typeface="Calibri" pitchFamily="34" charset="-122"/>
                <a:cs typeface="Calibri" pitchFamily="34" charset="-120"/>
              </a:rPr>
              <a:t>Study HBM and CXL memory architectures for AI inference</a:t>
            </a:r>
            <a:endParaRPr lang="en-US" sz="1050" dirty="0"/>
          </a:p>
          <a:p>
            <a:pPr marL="101600" indent="-101600">
              <a:lnSpc>
                <a:spcPct val="98000"/>
              </a:lnSpc>
              <a:spcAft>
                <a:spcPts val="100"/>
              </a:spcAft>
              <a:buSzPct val="100000"/>
              <a:buChar char="•"/>
            </a:pPr>
            <a:r>
              <a:rPr lang="en-US" sz="900" dirty="0">
                <a:solidFill>
                  <a:srgbClr val="1A1A1A"/>
                </a:solidFill>
                <a:latin typeface="Calibri" pitchFamily="34" charset="0"/>
                <a:ea typeface="Calibri" pitchFamily="34" charset="-122"/>
                <a:cs typeface="Calibri" pitchFamily="34" charset="-120"/>
              </a:rPr>
              <a:t>Analyze Transformer and MoE memory access patterns</a:t>
            </a:r>
            <a:endParaRPr lang="en-US" sz="1050" dirty="0"/>
          </a:p>
          <a:p>
            <a:pPr marL="101600" indent="-101600">
              <a:lnSpc>
                <a:spcPct val="98000"/>
              </a:lnSpc>
              <a:spcAft>
                <a:spcPts val="100"/>
              </a:spcAft>
              <a:buSzPct val="100000"/>
              <a:buChar char="•"/>
            </a:pPr>
            <a:r>
              <a:rPr lang="en-US" sz="900" dirty="0">
                <a:solidFill>
                  <a:srgbClr val="1A1A1A"/>
                </a:solidFill>
                <a:latin typeface="Calibri" pitchFamily="34" charset="0"/>
                <a:ea typeface="Calibri" pitchFamily="34" charset="-122"/>
                <a:cs typeface="Calibri" pitchFamily="34" charset="-120"/>
              </a:rPr>
              <a:t>Evaluate CXL-based memory expansion and pooling</a:t>
            </a:r>
            <a:endParaRPr lang="en-US" sz="1050" dirty="0"/>
          </a:p>
          <a:p>
            <a:pPr marL="101600" indent="-101600">
              <a:lnSpc>
                <a:spcPct val="98000"/>
              </a:lnSpc>
              <a:spcAft>
                <a:spcPts val="100"/>
              </a:spcAft>
              <a:buSzPct val="100000"/>
              <a:buChar char="•"/>
            </a:pPr>
            <a:r>
              <a:rPr lang="en-US" sz="900" dirty="0">
                <a:solidFill>
                  <a:srgbClr val="1A1A1A"/>
                </a:solidFill>
                <a:latin typeface="Calibri" pitchFamily="34" charset="0"/>
                <a:ea typeface="Calibri" pitchFamily="34" charset="-122"/>
                <a:cs typeface="Calibri" pitchFamily="34" charset="-120"/>
              </a:rPr>
              <a:t>Characterize bandwidth and latency trade-offs</a:t>
            </a:r>
            <a:endParaRPr lang="en-US" sz="1050" dirty="0"/>
          </a:p>
          <a:p>
            <a:pPr marL="101600" indent="-101600">
              <a:lnSpc>
                <a:spcPct val="98000"/>
              </a:lnSpc>
              <a:spcAft>
                <a:spcPts val="100"/>
              </a:spcAft>
              <a:buSzPct val="100000"/>
              <a:buChar char="•"/>
            </a:pPr>
            <a:r>
              <a:rPr lang="en-US" sz="900" dirty="0">
                <a:solidFill>
                  <a:srgbClr val="1A1A1A"/>
                </a:solidFill>
                <a:latin typeface="Calibri" pitchFamily="34" charset="0"/>
                <a:ea typeface="Calibri" pitchFamily="34" charset="-122"/>
                <a:cs typeface="Calibri" pitchFamily="34" charset="-120"/>
              </a:rPr>
              <a:t>Develop memory tiering strategies across HBM and CXL</a:t>
            </a:r>
            <a:endParaRPr lang="en-US" sz="1050" dirty="0"/>
          </a:p>
          <a:p>
            <a:pPr marL="0" indent="0">
              <a:spcBef>
                <a:spcPts val="700"/>
              </a:spcBef>
              <a:spcAft>
                <a:spcPts val="200"/>
              </a:spcAft>
              <a:buNone/>
            </a:pPr>
            <a:r>
              <a:rPr lang="en-US" sz="1050" b="1" dirty="0">
                <a:solidFill>
                  <a:srgbClr val="1F3864"/>
                </a:solidFill>
                <a:latin typeface="Calibri" pitchFamily="34" charset="0"/>
                <a:ea typeface="Calibri" pitchFamily="34" charset="-122"/>
                <a:cs typeface="Calibri" pitchFamily="34" charset="-120"/>
              </a:rPr>
              <a:t>Deliverables</a:t>
            </a:r>
            <a:endParaRPr lang="en-US" sz="1050" dirty="0"/>
          </a:p>
          <a:p>
            <a:pPr marL="101600" indent="-101600">
              <a:lnSpc>
                <a:spcPct val="98000"/>
              </a:lnSpc>
              <a:spcAft>
                <a:spcPts val="100"/>
              </a:spcAft>
              <a:buSzPct val="100000"/>
              <a:buChar char="•"/>
            </a:pPr>
            <a:r>
              <a:rPr lang="en-US" sz="900" dirty="0">
                <a:solidFill>
                  <a:srgbClr val="1A1A1A"/>
                </a:solidFill>
                <a:latin typeface="Calibri" pitchFamily="34" charset="0"/>
                <a:ea typeface="Calibri" pitchFamily="34" charset="-122"/>
                <a:cs typeface="Calibri" pitchFamily="34" charset="-120"/>
              </a:rPr>
              <a:t>HBM + CXL memory architecture model</a:t>
            </a:r>
            <a:endParaRPr lang="en-US" sz="1050" dirty="0"/>
          </a:p>
          <a:p>
            <a:pPr marL="101600" indent="-101600">
              <a:lnSpc>
                <a:spcPct val="98000"/>
              </a:lnSpc>
              <a:spcAft>
                <a:spcPts val="100"/>
              </a:spcAft>
              <a:buSzPct val="100000"/>
              <a:buChar char="•"/>
            </a:pPr>
            <a:r>
              <a:rPr lang="en-US" sz="900" dirty="0">
                <a:solidFill>
                  <a:srgbClr val="1A1A1A"/>
                </a:solidFill>
                <a:latin typeface="Calibri" pitchFamily="34" charset="0"/>
                <a:ea typeface="Calibri" pitchFamily="34" charset="-122"/>
                <a:cs typeface="Calibri" pitchFamily="34" charset="-120"/>
              </a:rPr>
              <a:t>CXL based Transformer &amp; MoE workload analysis</a:t>
            </a:r>
            <a:endParaRPr lang="en-US" sz="1050" dirty="0"/>
          </a:p>
          <a:p>
            <a:pPr marL="101600" indent="-101600">
              <a:lnSpc>
                <a:spcPct val="98000"/>
              </a:lnSpc>
              <a:spcAft>
                <a:spcPts val="100"/>
              </a:spcAft>
              <a:buSzPct val="100000"/>
              <a:buChar char="•"/>
            </a:pPr>
            <a:r>
              <a:rPr lang="en-US" sz="900" dirty="0">
                <a:solidFill>
                  <a:srgbClr val="1A1A1A"/>
                </a:solidFill>
                <a:latin typeface="Calibri" pitchFamily="34" charset="0"/>
                <a:ea typeface="Calibri" pitchFamily="34" charset="-122"/>
                <a:cs typeface="Calibri" pitchFamily="34" charset="-120"/>
              </a:rPr>
              <a:t>Bandwidth, latency &amp; scalability evaluation for CXL</a:t>
            </a:r>
            <a:endParaRPr lang="en-US" sz="1050" dirty="0"/>
          </a:p>
          <a:p>
            <a:pPr marL="101600" indent="-101600">
              <a:lnSpc>
                <a:spcPct val="98000"/>
              </a:lnSpc>
              <a:spcAft>
                <a:spcPts val="100"/>
              </a:spcAft>
              <a:buSzPct val="100000"/>
              <a:buChar char="•"/>
            </a:pPr>
            <a:r>
              <a:rPr lang="en-US" sz="900" dirty="0">
                <a:solidFill>
                  <a:srgbClr val="1A1A1A"/>
                </a:solidFill>
                <a:latin typeface="Calibri" pitchFamily="34" charset="0"/>
                <a:ea typeface="Calibri" pitchFamily="34" charset="-122"/>
                <a:cs typeface="Calibri" pitchFamily="34" charset="-120"/>
              </a:rPr>
              <a:t>Memory tiering and expert placement strategy</a:t>
            </a:r>
            <a:endParaRPr lang="en-US" sz="1050" dirty="0"/>
          </a:p>
          <a:p>
            <a:pPr marL="101600" indent="-101600">
              <a:lnSpc>
                <a:spcPct val="98000"/>
              </a:lnSpc>
              <a:spcAft>
                <a:spcPts val="100"/>
              </a:spcAft>
              <a:buSzPct val="100000"/>
              <a:buChar char="•"/>
            </a:pPr>
            <a:r>
              <a:rPr lang="en-US" sz="900" dirty="0">
                <a:solidFill>
                  <a:srgbClr val="1A1A1A"/>
                </a:solidFill>
                <a:latin typeface="Calibri" pitchFamily="34" charset="0"/>
                <a:ea typeface="Calibri" pitchFamily="34" charset="-122"/>
                <a:cs typeface="Calibri" pitchFamily="34" charset="-120"/>
              </a:rPr>
              <a:t>CXL memory expansion &amp; pooling study</a:t>
            </a:r>
            <a:endParaRPr lang="en-US" sz="1050" dirty="0"/>
          </a:p>
          <a:p>
            <a:pPr marL="101600" indent="-101600">
              <a:lnSpc>
                <a:spcPct val="98000"/>
              </a:lnSpc>
              <a:spcAft>
                <a:spcPts val="100"/>
              </a:spcAft>
              <a:buSzPct val="100000"/>
              <a:buChar char="•"/>
            </a:pPr>
            <a:r>
              <a:rPr lang="en-US" sz="900" dirty="0">
                <a:solidFill>
                  <a:srgbClr val="1A1A1A"/>
                </a:solidFill>
                <a:latin typeface="Calibri" pitchFamily="34" charset="0"/>
                <a:ea typeface="Calibri" pitchFamily="34" charset="-122"/>
                <a:cs typeface="Calibri" pitchFamily="34" charset="-120"/>
              </a:rPr>
              <a:t>Simulation framework (HBM-only vs HBM+CXL)</a:t>
            </a:r>
            <a:endParaRPr lang="en-US" sz="1050" dirty="0"/>
          </a:p>
          <a:p>
            <a:pPr marL="101600" indent="-101600">
              <a:lnSpc>
                <a:spcPct val="98000"/>
              </a:lnSpc>
              <a:spcAft>
                <a:spcPts val="100"/>
              </a:spcAft>
              <a:buSzPct val="100000"/>
              <a:buChar char="•"/>
            </a:pPr>
            <a:r>
              <a:rPr lang="en-US" sz="900" dirty="0">
                <a:solidFill>
                  <a:srgbClr val="1A1A1A"/>
                </a:solidFill>
                <a:latin typeface="Calibri" pitchFamily="34" charset="0"/>
                <a:ea typeface="Calibri" pitchFamily="34" charset="-122"/>
                <a:cs typeface="Calibri" pitchFamily="34" charset="-120"/>
              </a:rPr>
              <a:t>Interactive demo/dashboard showcasing performance impact</a:t>
            </a:r>
            <a:endParaRPr lang="en-US" sz="1050" dirty="0"/>
          </a:p>
          <a:p>
            <a:pPr marL="101600" indent="-101600">
              <a:lnSpc>
                <a:spcPct val="98000"/>
              </a:lnSpc>
              <a:spcAft>
                <a:spcPts val="100"/>
              </a:spcAft>
              <a:buSzPct val="100000"/>
              <a:buChar char="•"/>
            </a:pPr>
            <a:r>
              <a:rPr lang="en-US" sz="900" dirty="0">
                <a:solidFill>
                  <a:srgbClr val="1A1A1A"/>
                </a:solidFill>
                <a:latin typeface="Calibri" pitchFamily="34" charset="0"/>
                <a:ea typeface="Calibri" pitchFamily="34" charset="-122"/>
                <a:cs typeface="Calibri" pitchFamily="34" charset="-120"/>
              </a:rPr>
              <a:t>Final report with architecture recommendations</a:t>
            </a:r>
            <a:endParaRPr lang="en-US" sz="1050" dirty="0"/>
          </a:p>
          <a:p>
            <a:pPr marL="0" indent="0">
              <a:spcBef>
                <a:spcPts val="700"/>
              </a:spcBef>
              <a:spcAft>
                <a:spcPts val="200"/>
              </a:spcAft>
              <a:buNone/>
            </a:pPr>
            <a:r>
              <a:rPr lang="en-US" sz="1050" b="1" dirty="0">
                <a:solidFill>
                  <a:srgbClr val="1F3864"/>
                </a:solidFill>
                <a:latin typeface="Calibri" pitchFamily="34" charset="0"/>
                <a:ea typeface="Calibri" pitchFamily="34" charset="-122"/>
                <a:cs typeface="Calibri" pitchFamily="34" charset="-120"/>
              </a:rPr>
              <a:t>Tools &amp; Resources</a:t>
            </a:r>
            <a:endParaRPr lang="en-US" sz="1050" dirty="0"/>
          </a:p>
          <a:p>
            <a:pPr marL="101600" indent="-101600">
              <a:lnSpc>
                <a:spcPct val="98000"/>
              </a:lnSpc>
              <a:spcAft>
                <a:spcPts val="100"/>
              </a:spcAft>
              <a:buSzPct val="100000"/>
              <a:buChar char="•"/>
            </a:pPr>
            <a:r>
              <a:rPr lang="en-US" sz="900" dirty="0">
                <a:solidFill>
                  <a:srgbClr val="1A1A1A"/>
                </a:solidFill>
                <a:latin typeface="Calibri" pitchFamily="34" charset="0"/>
                <a:ea typeface="Calibri" pitchFamily="34" charset="-122"/>
                <a:cs typeface="Calibri" pitchFamily="34" charset="-120"/>
              </a:rPr>
              <a:t>Python, C/C++</a:t>
            </a:r>
            <a:endParaRPr lang="en-US" sz="1050" dirty="0"/>
          </a:p>
          <a:p>
            <a:pPr marL="101600" indent="-101600">
              <a:lnSpc>
                <a:spcPct val="98000"/>
              </a:lnSpc>
              <a:spcAft>
                <a:spcPts val="100"/>
              </a:spcAft>
              <a:buSzPct val="100000"/>
              <a:buChar char="•"/>
            </a:pPr>
            <a:r>
              <a:rPr lang="en-US" sz="900" dirty="0">
                <a:solidFill>
                  <a:srgbClr val="1A1A1A"/>
                </a:solidFill>
                <a:latin typeface="Calibri" pitchFamily="34" charset="0"/>
                <a:ea typeface="Calibri" pitchFamily="34" charset="-122"/>
                <a:cs typeface="Calibri" pitchFamily="34" charset="-120"/>
              </a:rPr>
              <a:t>gem5, SystemC, DRAMSim3</a:t>
            </a:r>
            <a:endParaRPr lang="en-US" sz="1050" dirty="0"/>
          </a:p>
          <a:p>
            <a:pPr marL="101600" indent="-101600">
              <a:lnSpc>
                <a:spcPct val="98000"/>
              </a:lnSpc>
              <a:spcAft>
                <a:spcPts val="100"/>
              </a:spcAft>
              <a:buSzPct val="100000"/>
              <a:buChar char="•"/>
            </a:pPr>
            <a:r>
              <a:rPr lang="en-US" sz="900" dirty="0">
                <a:solidFill>
                  <a:srgbClr val="1A1A1A"/>
                </a:solidFill>
                <a:latin typeface="Calibri" pitchFamily="34" charset="0"/>
                <a:ea typeface="Calibri" pitchFamily="34" charset="-122"/>
                <a:cs typeface="Calibri" pitchFamily="34" charset="-120"/>
              </a:rPr>
              <a:t>QEMU with CXL support</a:t>
            </a:r>
            <a:endParaRPr lang="en-US" sz="1050" dirty="0"/>
          </a:p>
          <a:p>
            <a:pPr marL="101600" indent="-101600">
              <a:lnSpc>
                <a:spcPct val="98000"/>
              </a:lnSpc>
              <a:spcAft>
                <a:spcPts val="100"/>
              </a:spcAft>
              <a:buSzPct val="100000"/>
              <a:buChar char="•"/>
            </a:pPr>
            <a:r>
              <a:rPr lang="en-US" sz="900" dirty="0">
                <a:solidFill>
                  <a:srgbClr val="1A1A1A"/>
                </a:solidFill>
                <a:latin typeface="Calibri" pitchFamily="34" charset="0"/>
                <a:ea typeface="Calibri" pitchFamily="34" charset="-122"/>
                <a:cs typeface="Calibri" pitchFamily="34" charset="-120"/>
              </a:rPr>
              <a:t>Open-source Transformer/MoE traces</a:t>
            </a:r>
            <a:endParaRPr lang="en-US" sz="1050" dirty="0"/>
          </a:p>
          <a:p>
            <a:pPr marL="101600" indent="-101600">
              <a:lnSpc>
                <a:spcPct val="98000"/>
              </a:lnSpc>
              <a:spcAft>
                <a:spcPts val="100"/>
              </a:spcAft>
              <a:buSzPct val="100000"/>
              <a:buChar char="•"/>
            </a:pPr>
            <a:r>
              <a:rPr lang="en-US" sz="900" dirty="0">
                <a:solidFill>
                  <a:srgbClr val="1A1A1A"/>
                </a:solidFill>
                <a:latin typeface="Calibri" pitchFamily="34" charset="0"/>
                <a:ea typeface="Calibri" pitchFamily="34" charset="-122"/>
                <a:cs typeface="Calibri" pitchFamily="34" charset="-120"/>
              </a:rPr>
              <a:t>Pandas, Matplotlib, Plotly</a:t>
            </a:r>
            <a:endParaRPr lang="en-US" sz="1050" dirty="0"/>
          </a:p>
          <a:p>
            <a:pPr marL="101600" indent="-101600">
              <a:lnSpc>
                <a:spcPct val="98000"/>
              </a:lnSpc>
              <a:spcAft>
                <a:spcPts val="100"/>
              </a:spcAft>
              <a:buSzPct val="100000"/>
              <a:buChar char="•"/>
            </a:pPr>
            <a:r>
              <a:rPr lang="en-US" sz="900" dirty="0">
                <a:solidFill>
                  <a:srgbClr val="1A1A1A"/>
                </a:solidFill>
                <a:latin typeface="Calibri" pitchFamily="34" charset="0"/>
                <a:ea typeface="Calibri" pitchFamily="34" charset="-122"/>
                <a:cs typeface="Calibri" pitchFamily="34" charset="-120"/>
              </a:rPr>
              <a:t>HBM and CXL specifications</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864d6687-5155-4a0e-a628-49dd428607fb}" enabled="1" method="Standard" siteId="{f47c88fd-08a9-4016-b488-3f361c03ff2e}" contentBits="0" removed="0"/>
</clbl:labelList>
</file>

<file path=docProps/app.xml><?xml version="1.0" encoding="utf-8"?>
<Properties xmlns="http://schemas.openxmlformats.org/officeDocument/2006/extended-properties" xmlns:vt="http://schemas.openxmlformats.org/officeDocument/2006/docPropsVTypes">
  <TotalTime>19424</TotalTime>
  <Words>699</Words>
  <Application>Microsoft Office PowerPoint</Application>
  <PresentationFormat>Custom</PresentationFormat>
  <Paragraphs>68</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Silicon &amp; Systems Project Overview</dc:title>
  <dc:subject>PptxGenJS Presentation</dc:subject>
  <dc:creator>Astera Labs</dc:creator>
  <cp:lastModifiedBy>Shivi Singh</cp:lastModifiedBy>
  <cp:revision>7</cp:revision>
  <dcterms:created xsi:type="dcterms:W3CDTF">2026-07-28T18:53:11Z</dcterms:created>
  <dcterms:modified xsi:type="dcterms:W3CDTF">2026-08-12T06:59:13Z</dcterms:modified>
</cp:coreProperties>
</file>